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6"/>
    <p:sldId id="263" r:id="rId5"/>
    <p:sldId id="264" r:id="rId4"/>
    <p:sldId id="265" r:id="rId3"/>
    <p:sldId id="266" r:id="rId2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58D"/>
    <a:srgbClr val="EFF8FE"/>
    <a:srgbClr val="BE0103"/>
    <a:srgbClr val="C00102"/>
    <a:srgbClr val="F9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3A431-573D-4A62-A399-163B028C741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B9524-06F2-4BC2-B8F5-8F506030B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0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F201-9E42-4E2D-8C0E-72EDBC0B341E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A638143-A26B-B0BD-8C4D-F174115D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B726-68B4-4902-A5B0-AB8AFA750821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771BEE8-D657-AFA3-229A-E228DE77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37FCC-5ED5-4EAE-B403-9DC22191DFC7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1BDFD-C98D-4C97-BB76-2FDD596660D6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B2573-4922-4AF2-988E-568B5D2FC2A5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57B16-F9D1-4A8A-B20D-9D6FA78B73E0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54D93-9A7C-4D6E-B2C5-A90C9B491A0E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5C77-E875-465F-A51B-34181B1A50B9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4625-60CA-4F34-A995-004D0A0CD753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3AB95-9A1D-42CC-AFDA-072DE729D9A6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3595-40F0-47D7-992D-9CD900F6F972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1BC2C-836E-4D92-A59B-115AE1F1809E}" type="datetime1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964DC0B-106D-B59C-89BF-7F6CB64BE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7200" y="4762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800" b="1"/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tiff"/><Relationship Id="rId4" Type="http://schemas.openxmlformats.org/officeDocument/2006/relationships/image" Target="../media/image11.tiff"/><Relationship Id="rId5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34.jpg"/><Relationship Id="rId5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36.jpg"/><Relationship Id="rId5" Type="http://schemas.openxmlformats.org/officeDocument/2006/relationships/image" Target="../media/image2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专题汇报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蛇形机器人研究进展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27632"/>
            <a:ext cx="5120640" cy="420624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2300" b="1">
                <a:solidFill>
                  <a:srgbClr val="073763"/>
                </a:solidFill>
                <a:latin typeface="Microsoft YaHei"/>
              </a:rPr>
              <a:t>Snake Robots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49424"/>
            <a:ext cx="6949440" cy="411480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1839" b="1">
                <a:solidFill>
                  <a:srgbClr val="1E2A36"/>
                </a:solidFill>
                <a:latin typeface="Microsoft YaHei"/>
              </a:rPr>
              <a:t>仿生机理、结构驱动、建模控制与典型应用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16352"/>
            <a:ext cx="2560320" cy="219456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1040" b="0">
                <a:solidFill>
                  <a:srgbClr val="5E7186"/>
                </a:solidFill>
                <a:latin typeface="Microsoft YaHei"/>
              </a:rPr>
              <a:t>课程专题汇报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609344"/>
            <a:ext cx="4206240" cy="22860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ipeline_p03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715103"/>
            <a:ext cx="4078224" cy="18733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76872" y="3666744"/>
            <a:ext cx="4059935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管道蛇形机器人样机 [Liu 2024]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09160"/>
            <a:ext cx="8138160" cy="694944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细长多关节构型使机器人能够进入弯曲、狭窄和遮挡空间。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报告重点讨论推进机理、结构实现、建模方法和复杂环境控制。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报告结构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正文结构与汇报安排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围绕研究背景、仿生机理、结构驱动、运动建模、运动控制和典型应用展开。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1627632"/>
            <a:ext cx="822959" cy="59436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45920"/>
            <a:ext cx="786383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部分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6192" y="1627632"/>
            <a:ext cx="1920240" cy="59436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1645920"/>
            <a:ext cx="1883664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正文标题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1627632"/>
            <a:ext cx="4114800" cy="59436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645920"/>
            <a:ext cx="4078224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回答的问题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221992"/>
            <a:ext cx="822959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2240280"/>
            <a:ext cx="768095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36192" y="2221992"/>
            <a:ext cx="192024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63624" y="2240280"/>
            <a:ext cx="186537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研究背景与现状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432" y="2221992"/>
            <a:ext cx="411480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83864" y="2240280"/>
            <a:ext cx="405993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为什么蛇形机器人适合受限空间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2816352"/>
            <a:ext cx="822959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2834640"/>
            <a:ext cx="768095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36192" y="2816352"/>
            <a:ext cx="192024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63624" y="2834640"/>
            <a:ext cx="186537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仿生推进机理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2816352"/>
            <a:ext cx="411480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83864" y="2834640"/>
            <a:ext cx="405993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体波、阻力和支撑条件如何形成推进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3410712"/>
            <a:ext cx="822959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3429000"/>
            <a:ext cx="768095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36192" y="3410712"/>
            <a:ext cx="192024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63624" y="3429000"/>
            <a:ext cx="186537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结构与驱动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56432" y="3410712"/>
            <a:ext cx="411480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83864" y="3429000"/>
            <a:ext cx="405993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关节、驱动和传感如何决定平台能力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005072"/>
            <a:ext cx="822959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" y="4023359"/>
            <a:ext cx="768095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6192" y="4005072"/>
            <a:ext cx="192024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63624" y="4023359"/>
            <a:ext cx="186537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运动建模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56432" y="4005072"/>
            <a:ext cx="411480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83864" y="4023359"/>
            <a:ext cx="405993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如何由身体形态得到可执行关节变量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4599432"/>
            <a:ext cx="822959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" y="4617720"/>
            <a:ext cx="768095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36192" y="4599432"/>
            <a:ext cx="192024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63624" y="4617720"/>
            <a:ext cx="186537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运动控制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56432" y="4599432"/>
            <a:ext cx="4114800" cy="59436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83864" y="4617720"/>
            <a:ext cx="405993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如何生成步态、跟踪路径并保证身体安全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" y="5193792"/>
            <a:ext cx="822959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" y="5212080"/>
            <a:ext cx="768095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C8102E"/>
                </a:solidFill>
                <a:latin typeface="Microsoft YaHei"/>
              </a:rPr>
              <a:t>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36192" y="5193792"/>
            <a:ext cx="192024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63624" y="5212080"/>
            <a:ext cx="186537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典型应用与展望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56432" y="5193792"/>
            <a:ext cx="4114800" cy="59436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83864" y="5212080"/>
            <a:ext cx="4059936" cy="5577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70" b="0">
                <a:solidFill>
                  <a:srgbClr val="1E2A36"/>
                </a:solidFill>
                <a:latin typeface="Microsoft YaHei"/>
              </a:rPr>
              <a:t>不同场景需要哪些结构和评价指标</a:t>
            </a:r>
          </a:p>
        </p:txBody>
      </p:sp>
      <p:pic>
        <p:nvPicPr>
          <p:cNvPr id="55" name="Picture 54" descr="Fig_典型步态_中文线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783080"/>
            <a:ext cx="3154680" cy="187775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955279" y="5138928"/>
            <a:ext cx="306324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0">
                <a:solidFill>
                  <a:srgbClr val="5E7186"/>
                </a:solidFill>
                <a:latin typeface="Microsoft YaHei"/>
              </a:rPr>
              <a:t>典型步态示意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一 研究背景与现状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研究背景：受限空间对细长机器人的需求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管道、废墟、水下近壁和医疗腔道具有狭窄、弯曲、遮挡和多接触特征。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64208"/>
            <a:ext cx="4297680" cy="1261872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1E2A36"/>
                </a:solidFill>
                <a:latin typeface="Microsoft YaHei"/>
              </a:rPr>
              <a:t>• 受限空间通常具有小通道尺寸、大曲率路径和局部遮挡，传统移动平台转向半径受限。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1E2A36"/>
                </a:solidFill>
                <a:latin typeface="Microsoft YaHei"/>
              </a:rPr>
              <a:t>• 蛇形机器人可将支撑、转向和姿态调整分散到整条身体，适合把传感器送入远端区域。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1E2A36"/>
                </a:solidFill>
                <a:latin typeface="Microsoft YaHei"/>
              </a:rPr>
              <a:t>• 实际应用除速度外，还需考察通过能力、姿态稳定、感知质量和重复成功率。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664208"/>
            <a:ext cx="269748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ipeline_p07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124" y="1719072"/>
            <a:ext cx="2172830" cy="1243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0952" y="2990088"/>
            <a:ext cx="255117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管道内壁检测 [Liu 2024]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664208"/>
            <a:ext cx="269748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eview_structure_p04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075" y="1719072"/>
            <a:ext cx="2173969" cy="12435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48472" y="2990088"/>
            <a:ext cx="255117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狭小空间平台 [张军豪等 2022]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3703320"/>
            <a:ext cx="269748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underwater_soft_p03_i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937" y="3758183"/>
            <a:ext cx="2195205" cy="12435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0952" y="5029200"/>
            <a:ext cx="255117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水下软体平台 [Shi 2025]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3703320"/>
            <a:ext cx="269748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onchoscopy_p06_i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508" y="3758183"/>
            <a:ext cx="1975104" cy="12435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48472" y="5029200"/>
            <a:ext cx="255117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腔道导航路径 [Kuan 2023]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四类场景的共同点不是地形复杂本身，而是通道尺度小、视野遮挡和接触点变化；后文结构、建模和控制均围绕这些条件展开。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一 研究背景与现状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国内外研究现状：从步态复现到场景平台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研究内容主要分布在样机结构、步态控制、三维建模和场景验证四个方面。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664208"/>
            <a:ext cx="1748790" cy="658368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682496"/>
            <a:ext cx="1712214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研究阶段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7158" y="1664208"/>
            <a:ext cx="3217773" cy="658368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5446" y="1682496"/>
            <a:ext cx="3181197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主要内容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4931" y="1664208"/>
            <a:ext cx="2028596" cy="658368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43219" y="1682496"/>
            <a:ext cx="1992020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代表性依据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322576"/>
            <a:ext cx="174879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340864"/>
            <a:ext cx="1693926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早期样机与步态复现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07158" y="2322576"/>
            <a:ext cx="3217773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34590" y="2340864"/>
            <a:ext cx="3162909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被动轮、模块化关节链、平面蜿蜒运动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4931" y="2322576"/>
            <a:ext cx="2028596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2363" y="2340864"/>
            <a:ext cx="1973732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苏中等 2015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980944"/>
            <a:ext cx="1748790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999232"/>
            <a:ext cx="1693926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结构专用化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07158" y="2980944"/>
            <a:ext cx="3217773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34590" y="2999232"/>
            <a:ext cx="3162909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管道贴壁、水下平台、医疗微型平台、软体结构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4931" y="2980944"/>
            <a:ext cx="2028596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52363" y="2999232"/>
            <a:ext cx="1973732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张军豪等 2022；Liu 2024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639312"/>
            <a:ext cx="174879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57600"/>
            <a:ext cx="1693926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建模与控制深化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07158" y="3639312"/>
            <a:ext cx="3217773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34590" y="3657600"/>
            <a:ext cx="3162909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空间曲线、接触力项、LOS、MPC、CPG 调参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4931" y="3639312"/>
            <a:ext cx="2028596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52363" y="3657600"/>
            <a:ext cx="1973732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张东 2022；Li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297680"/>
            <a:ext cx="1748790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315968"/>
            <a:ext cx="1693926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应用场景验证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07158" y="4297680"/>
            <a:ext cx="3217773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34590" y="4315968"/>
            <a:ext cx="3162909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管道检测、水下巡检、搜救、腔道导航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4931" y="4297680"/>
            <a:ext cx="2028596" cy="658368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52363" y="4315968"/>
            <a:ext cx="1973732" cy="6217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Han 2022；Kuan 2023；Shi 2025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1874519"/>
            <a:ext cx="3063240" cy="19202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review_structure_p05_i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1984503"/>
            <a:ext cx="2935224" cy="149910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28431" y="3566160"/>
            <a:ext cx="291693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综述中的典型结构与运动形式 [张军豪等 2022]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4224528"/>
            <a:ext cx="3017520" cy="64008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1E2A36"/>
                </a:solidFill>
                <a:latin typeface="Microsoft YaHei"/>
              </a:rPr>
              <a:t>• 结构研究从通用样机转向场景专用平台。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1E2A36"/>
                </a:solidFill>
                <a:latin typeface="Microsoft YaHei"/>
              </a:rPr>
              <a:t>• 控制研究从周期步态转向路径、接触和安全约束。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一 研究背景与现状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研究对象与分类范围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报告按结构、步态、模型、控制和应用组织内容，避免按单篇论文逐项罗列。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1691640"/>
            <a:ext cx="1602028" cy="6477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709928"/>
            <a:ext cx="1565452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研究对象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96972" y="1691640"/>
            <a:ext cx="4405579" cy="6477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5260" y="1709928"/>
            <a:ext cx="4369003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汇报中的具体内容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02552" y="1691640"/>
            <a:ext cx="4005072" cy="6477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709928"/>
            <a:ext cx="3968496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Microsoft YaHei"/>
              </a:rPr>
              <a:t>与正文结构的关系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" y="2339340"/>
            <a:ext cx="1602028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2357628"/>
            <a:ext cx="1547164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1">
                <a:solidFill>
                  <a:srgbClr val="C8102E"/>
                </a:solidFill>
                <a:latin typeface="Microsoft YaHei"/>
              </a:rPr>
              <a:t>结构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6972" y="2339340"/>
            <a:ext cx="4405579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24404" y="2357628"/>
            <a:ext cx="4350715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关节模块、驱动形式、外壳与密封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2552" y="2339340"/>
            <a:ext cx="4005072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4" y="2357628"/>
            <a:ext cx="3950208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决定运动能力和适用场景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" y="2987040"/>
            <a:ext cx="1602028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3005328"/>
            <a:ext cx="1547164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1">
                <a:solidFill>
                  <a:srgbClr val="C8102E"/>
                </a:solidFill>
                <a:latin typeface="Microsoft YaHei"/>
              </a:rPr>
              <a:t>步态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96972" y="2987040"/>
            <a:ext cx="4405579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24404" y="3005328"/>
            <a:ext cx="4350715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蜿蜒、伸缩、螺旋、游动和障碍辅助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02552" y="2987040"/>
            <a:ext cx="4005072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9984" y="3005328"/>
            <a:ext cx="3950208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连接仿生机理与控制输入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" y="3634740"/>
            <a:ext cx="1602028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3653028"/>
            <a:ext cx="1547164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1">
                <a:solidFill>
                  <a:srgbClr val="C8102E"/>
                </a:solidFill>
                <a:latin typeface="Microsoft YaHei"/>
              </a:rPr>
              <a:t>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6972" y="3634740"/>
            <a:ext cx="4405579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24404" y="3653028"/>
            <a:ext cx="4350715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Serpenoid、D-H、中心线离散、接触力项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02552" y="3634740"/>
            <a:ext cx="4005072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9984" y="3653028"/>
            <a:ext cx="3950208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为控制器提供状态变量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" y="4282440"/>
            <a:ext cx="1602028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" y="4300728"/>
            <a:ext cx="1547164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1">
                <a:solidFill>
                  <a:srgbClr val="C8102E"/>
                </a:solidFill>
                <a:latin typeface="Microsoft YaHei"/>
              </a:rPr>
              <a:t>控制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96972" y="4282440"/>
            <a:ext cx="4405579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24404" y="4300728"/>
            <a:ext cx="4350715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CPG、LOS、MPC、学习调参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02552" y="4282440"/>
            <a:ext cx="4005072" cy="6477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9984" y="4300728"/>
            <a:ext cx="3950208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决定路径跟踪和全身安全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" y="4930140"/>
            <a:ext cx="1602028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4948428"/>
            <a:ext cx="1547164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1">
                <a:solidFill>
                  <a:srgbClr val="C8102E"/>
                </a:solidFill>
                <a:latin typeface="Microsoft YaHei"/>
              </a:rPr>
              <a:t>应用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96972" y="4930140"/>
            <a:ext cx="4405579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24404" y="4948428"/>
            <a:ext cx="4350715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管道、搜救、水下、医疗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02552" y="4930140"/>
            <a:ext cx="4005072" cy="6477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9984" y="4948428"/>
            <a:ext cx="3950208" cy="6111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30" b="0">
                <a:solidFill>
                  <a:srgbClr val="1E2A36"/>
                </a:solidFill>
                <a:latin typeface="Microsoft YaHei"/>
              </a:rPr>
              <a:t>检验结构和控制是否有效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二 仿生推进机理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生物蛇运动特征：形态连续、接触分散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工程仿生应关注运动组织方式，而不是简单复制外形。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1691640"/>
            <a:ext cx="2331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1691640"/>
            <a:ext cx="54864" cy="960120"/>
          </a:xfrm>
          <a:prstGeom prst="rect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1801368"/>
            <a:ext cx="210312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细长身体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093976"/>
            <a:ext cx="2103120" cy="502920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小横截面有利于通过狭缝和弯曲通道，身体长度提供多点支撑。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691640"/>
            <a:ext cx="2331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1691640"/>
            <a:ext cx="54864" cy="960120"/>
          </a:xfrm>
          <a:prstGeom prst="rect">
            <a:avLst/>
          </a:prstGeom>
          <a:solidFill>
            <a:srgbClr val="4C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801368"/>
            <a:ext cx="210312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多关节连续形态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093976"/>
            <a:ext cx="2103120" cy="502920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相邻模块依次弯曲，形成沿体长传播的身体波。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1691640"/>
            <a:ext cx="2331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79008" y="1691640"/>
            <a:ext cx="54864" cy="960120"/>
          </a:xfrm>
          <a:prstGeom prst="rect">
            <a:avLst/>
          </a:prstGeom>
          <a:solidFill>
            <a:srgbClr val="D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16168" y="1801368"/>
            <a:ext cx="210312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腹鳞与地面作用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2093976"/>
            <a:ext cx="2103120" cy="502920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方向性阻力是陆地蛇体推进的重要条件。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1896" y="1691640"/>
            <a:ext cx="2331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11896" y="1691640"/>
            <a:ext cx="54864" cy="9601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1801368"/>
            <a:ext cx="210312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全身参与运动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2093976"/>
            <a:ext cx="2103120" cy="502920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中后段同样决定通过安全和支撑稳定。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3090672"/>
            <a:ext cx="10012680" cy="2029968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review_structure_p03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722" y="3145536"/>
            <a:ext cx="3496915" cy="17190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78992" y="4892040"/>
            <a:ext cx="986637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生物蛇运动与仿蛇机构对照 [张军豪等 2022]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重点观察身体波沿体长传播、腹部接触区和多段支撑；工程实现需要把连续体形转化为可执行的关节角序列。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二 仿生推进机理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方向性阻力与推进条件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侧向摆动只有在切向/法向阻力存在差异时，才会形成有效前进。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64208"/>
            <a:ext cx="4206240" cy="123444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机体局部速度可分解为切向和法向分量。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法向阻力大于切向阻力时，横向滑移受限，身体波更容易转化为前进位移。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被动轮、鳞片状表面和外覆摩擦材料都在改变接触方向性。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664208"/>
            <a:ext cx="2743200" cy="1664208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riction_p05_i01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2002093"/>
            <a:ext cx="2615184" cy="7872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85232" y="3099816"/>
            <a:ext cx="259689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摩擦/推进实验图 [2021]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7031" y="1664208"/>
            <a:ext cx="2743200" cy="1664208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riction_p07_i09.t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013187"/>
            <a:ext cx="2615184" cy="765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30183" y="3099816"/>
            <a:ext cx="259689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阻力与推进条件实验 [2021]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858768"/>
            <a:ext cx="4617720" cy="932688"/>
          </a:xfrm>
          <a:prstGeom prst="rect">
            <a:avLst/>
          </a:prstGeom>
          <a:solidFill>
            <a:srgbClr val="F7F9FC"/>
          </a:solidFill>
          <a:ln w="6985">
            <a:solidFill>
              <a:srgbClr val="B8C7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68496"/>
            <a:ext cx="4471416" cy="21031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919" b="1">
                <a:solidFill>
                  <a:srgbClr val="0B4D91"/>
                </a:solidFill>
                <a:latin typeface="Microsoft YaHei"/>
              </a:rPr>
              <a:t>公式位置：方向性摩擦模型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279392"/>
            <a:ext cx="4361688" cy="45720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800" b="0">
                <a:solidFill>
                  <a:srgbClr val="5E7186"/>
                </a:solidFill>
                <a:latin typeface="Microsoft YaHei"/>
              </a:rPr>
              <a:t>来源：2021 Tribological mechanism；统一说明切向/法向阻力系数与局部速度分量。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9008" y="3703320"/>
            <a:ext cx="5138928" cy="141732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riction_p07_i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492" y="3758183"/>
            <a:ext cx="3781958" cy="11064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52160" y="4892040"/>
            <a:ext cx="4992624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局部接触与摩擦方向示意 [2021]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321808"/>
            <a:ext cx="10561320" cy="658368"/>
          </a:xfrm>
          <a:prstGeom prst="rect">
            <a:avLst/>
          </a:prstGeom>
          <a:solidFill>
            <a:srgbClr val="FFF7ED"/>
          </a:solidFill>
          <a:ln w="1016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C8102E"/>
                </a:solidFill>
                <a:latin typeface="微软雅黑"/>
              </a:rPr>
              <a:t>公式含义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将局部速度分解为切向 vt 与法向 vn；当法向阻力系数大于切向阻力系数时，横向滑移受抑制，身体波更容易转化为轴向位移。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二 仿生推进机理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典型步态：不同环境对应不同支撑方式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步态分类应同时说明接触条件、适用环境和主要限制。</a:t>
            </a:r>
          </a:p>
        </p:txBody>
      </p:sp>
      <p:pic>
        <p:nvPicPr>
          <p:cNvPr id="13" name="Picture 12" descr="Fig_典型步态_中文线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5440680" cy="323843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46520" y="1755648"/>
            <a:ext cx="995781" cy="63093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773936"/>
            <a:ext cx="959205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步态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42301" y="1755648"/>
            <a:ext cx="1765249" cy="63093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0589" y="1773936"/>
            <a:ext cx="1728673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支撑条件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07550" y="1755648"/>
            <a:ext cx="1765249" cy="63093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5838" y="1773936"/>
            <a:ext cx="1728673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主要限制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386584"/>
            <a:ext cx="995781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404872"/>
            <a:ext cx="940917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平面蜿蜒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2301" y="2386584"/>
            <a:ext cx="1765249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9733" y="2404872"/>
            <a:ext cx="1710385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方向性摩擦明显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07550" y="2386584"/>
            <a:ext cx="1765249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4982" y="2404872"/>
            <a:ext cx="1710385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摩擦不足时侧滑明显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017520"/>
            <a:ext cx="995781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035808"/>
            <a:ext cx="940917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伸缩运动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42301" y="3017520"/>
            <a:ext cx="1765249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9733" y="3035808"/>
            <a:ext cx="1710385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局部锚定可靠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07550" y="3017520"/>
            <a:ext cx="1765249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4982" y="3035808"/>
            <a:ext cx="1710385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速度较低，对锚定质量敏感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648456"/>
            <a:ext cx="995781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666744"/>
            <a:ext cx="940917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螺旋贴壁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42301" y="3648456"/>
            <a:ext cx="1765249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69733" y="3666744"/>
            <a:ext cx="1710385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管壁提供周向支撑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07550" y="3648456"/>
            <a:ext cx="1765249" cy="63093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4982" y="3666744"/>
            <a:ext cx="1710385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截面变化会破坏接触分布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4279392"/>
            <a:ext cx="995781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4297679"/>
            <a:ext cx="940917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游动推进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42301" y="4279392"/>
            <a:ext cx="1765249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69733" y="4297679"/>
            <a:ext cx="1710385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流体反力主导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07550" y="4279392"/>
            <a:ext cx="1765249" cy="63093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4982" y="4297679"/>
            <a:ext cx="1710385" cy="5943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受流场和附加质量影响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5120640"/>
            <a:ext cx="4297680" cy="274320"/>
          </a:xfrm>
          <a:prstGeom prst="rect">
            <a:avLst/>
          </a:prstGeom>
          <a:solidFill>
            <a:srgbClr val="F4F8FC"/>
          </a:solidFill>
          <a:ln w="444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5175503"/>
            <a:ext cx="4151376" cy="18287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819" b="1">
                <a:solidFill>
                  <a:srgbClr val="073763"/>
                </a:solidFill>
                <a:latin typeface="Microsoft YaHei"/>
              </a:rPr>
              <a:t>步态不是动作名称清单，而是身体波与环境支撑条件的组合。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每种步态不是孤立动作，而是特定接触条件下的体形波；讲解时先判断支撑来自地面、管壁、流体还是障碍。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二 仿生推进机理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步态与环境条件的对应关系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环境约束决定支撑方式，支撑方式进一步限制可选步态。</a:t>
            </a:r>
          </a:p>
        </p:txBody>
      </p:sp>
      <p:pic>
        <p:nvPicPr>
          <p:cNvPr id="13" name="Picture 12" descr="Fig_步态环境适配矩阵_中文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00200"/>
            <a:ext cx="5760720" cy="27662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629400" y="1783080"/>
            <a:ext cx="1074420" cy="58674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1801368"/>
            <a:ext cx="1037844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环境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3820" y="1783080"/>
            <a:ext cx="1160373" cy="58674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2108" y="1801368"/>
            <a:ext cx="1123797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适合步态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4193" y="1783080"/>
            <a:ext cx="2062886" cy="58674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2481" y="1801368"/>
            <a:ext cx="2026310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369820"/>
            <a:ext cx="1074420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2388108"/>
            <a:ext cx="1019556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平面地面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03820" y="2369820"/>
            <a:ext cx="1160373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1252" y="2388108"/>
            <a:ext cx="1105509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平面蜿蜒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4193" y="2369820"/>
            <a:ext cx="2062886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1625" y="2388108"/>
            <a:ext cx="2008022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依赖切向/法向阻力差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2956560"/>
            <a:ext cx="1074420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2974848"/>
            <a:ext cx="1019556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狭窄通道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03820" y="2956560"/>
            <a:ext cx="1160373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31252" y="2974848"/>
            <a:ext cx="1105509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伸缩运动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4193" y="2956560"/>
            <a:ext cx="2062886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91625" y="2974848"/>
            <a:ext cx="2008022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局部锚定比连续滑移更可靠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3543300"/>
            <a:ext cx="1074420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2" y="3561588"/>
            <a:ext cx="1019556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管道内壁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03820" y="3543300"/>
            <a:ext cx="1160373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31252" y="3561588"/>
            <a:ext cx="1105509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螺旋贴壁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4193" y="3543300"/>
            <a:ext cx="2062886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91625" y="3561588"/>
            <a:ext cx="2008022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周向支撑有利于覆盖内壁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4130040"/>
            <a:ext cx="1074420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4148327"/>
            <a:ext cx="1019556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水下环境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03820" y="4130040"/>
            <a:ext cx="1160373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31252" y="4148327"/>
            <a:ext cx="1105509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游动推进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4193" y="4130040"/>
            <a:ext cx="2062886" cy="58674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91625" y="4148327"/>
            <a:ext cx="2008022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流体反力替代地面摩擦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4716780"/>
            <a:ext cx="1074420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56832" y="4735067"/>
            <a:ext cx="1019556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碎石/障碍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03820" y="4716780"/>
            <a:ext cx="1160373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31252" y="4735067"/>
            <a:ext cx="1105509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障碍辅助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4193" y="4716780"/>
            <a:ext cx="2062886" cy="58674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91625" y="4735067"/>
            <a:ext cx="2008022" cy="55016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利用接触点提供支撑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矩阵体现“环境条件先行”的选择逻辑；管道依赖贴壁支撑，水下依赖流体反力，两者不能用同一摩擦假设解释。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三 结构与驱动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结构形式分类：按支撑与驱动方式划分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常见结构包括被动轮式、主动轮式、履带式、螺旋贴壁式、软体式与水下平台。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664208"/>
            <a:ext cx="1344168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682496"/>
            <a:ext cx="1307592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结构类型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02536" y="1664208"/>
            <a:ext cx="2889961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20824" y="1682496"/>
            <a:ext cx="2853385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主要特征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497" y="1664208"/>
            <a:ext cx="2486710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785" y="1682496"/>
            <a:ext cx="2450134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适用条件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304288"/>
            <a:ext cx="1344168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322576"/>
            <a:ext cx="1289304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被动轮式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02536" y="2304288"/>
            <a:ext cx="2889961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9967" y="2322576"/>
            <a:ext cx="2835097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轮轴形成方向性阻力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497" y="2304288"/>
            <a:ext cx="248671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929" y="2322576"/>
            <a:ext cx="243184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平面蜿蜒和样机验证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944368"/>
            <a:ext cx="1344168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962656"/>
            <a:ext cx="1289304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主动轮式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02536" y="2944368"/>
            <a:ext cx="2889961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9967" y="2962656"/>
            <a:ext cx="2835097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轮驱与关节摆动组合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497" y="2944368"/>
            <a:ext cx="248671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929" y="2962656"/>
            <a:ext cx="243184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速度要求较高的地面移动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584448"/>
            <a:ext cx="1344168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02736"/>
            <a:ext cx="1289304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履带式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02536" y="3584448"/>
            <a:ext cx="2889961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9967" y="3602736"/>
            <a:ext cx="2835097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接触面积较大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497" y="3584448"/>
            <a:ext cx="248671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19929" y="3602736"/>
            <a:ext cx="243184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粗糙地面和废墟环境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224528"/>
            <a:ext cx="1344168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242816"/>
            <a:ext cx="1289304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螺旋贴壁式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02536" y="4224528"/>
            <a:ext cx="2889961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9967" y="4242816"/>
            <a:ext cx="2835097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沿管壁形成周向支撑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497" y="4224528"/>
            <a:ext cx="248671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19929" y="4242816"/>
            <a:ext cx="243184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管道检测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64608"/>
            <a:ext cx="1344168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882896"/>
            <a:ext cx="1289304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软体/水下式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02536" y="4864608"/>
            <a:ext cx="2889961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29967" y="4882896"/>
            <a:ext cx="2835097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柔顺形变或流体推进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497" y="4864608"/>
            <a:ext cx="248671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929" y="4882896"/>
            <a:ext cx="243184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安全接触和水下巡检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1664208"/>
            <a:ext cx="3429000" cy="1755648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review_structure_p04_i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1969379"/>
            <a:ext cx="3300984" cy="94413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799831" y="3191256"/>
            <a:ext cx="328269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结构分类示意 [张军豪等 2022]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79" y="3712463"/>
            <a:ext cx="3429000" cy="14630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review_structure_p06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467" y="3767327"/>
            <a:ext cx="2043425" cy="11521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799831" y="4946904"/>
            <a:ext cx="328269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典型样机与结构图 [张军豪等 2022]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结构分类依据是支撑和驱动方式，而不是外观；同样的蛇形外形，可能通过轮、履带、螺旋贴壁或柔性变形实现推进。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三 结构与驱动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关节模块与自由度布置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偏航/俯仰交替布置可获得空间弯曲能力，但会提高建模与限位检查难度。</a:t>
            </a:r>
          </a:p>
        </p:txBody>
      </p:sp>
      <p:pic>
        <p:nvPicPr>
          <p:cNvPr id="13" name="Picture 12" descr="Fig_关节模块与自由度布置_中文线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00200"/>
            <a:ext cx="5806440" cy="246423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720840" y="1755648"/>
            <a:ext cx="1190548" cy="5638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7" y="1773936"/>
            <a:ext cx="1153972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设计量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1388" y="1755648"/>
            <a:ext cx="3061411" cy="5638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9676" y="1773936"/>
            <a:ext cx="3024835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2319528"/>
            <a:ext cx="1190548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2337816"/>
            <a:ext cx="1135684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自由度布置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11388" y="2319528"/>
            <a:ext cx="3061411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8820" y="2337816"/>
            <a:ext cx="3006547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决定平面运动或空间弯曲能力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883408"/>
            <a:ext cx="1190548" cy="5638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2901696"/>
            <a:ext cx="1135684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模块长度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11388" y="2883408"/>
            <a:ext cx="3061411" cy="5638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8820" y="2901696"/>
            <a:ext cx="3006547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影响最小转弯半径和控制分辨率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447288"/>
            <a:ext cx="1190548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3465576"/>
            <a:ext cx="1135684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最大弯角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11388" y="3447288"/>
            <a:ext cx="3061411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8820" y="3465576"/>
            <a:ext cx="3006547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限制可实现曲率和越障姿态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4011168"/>
            <a:ext cx="1190548" cy="5638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4029455"/>
            <a:ext cx="1135684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力矩裕度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11388" y="4011168"/>
            <a:ext cx="3061411" cy="5638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8820" y="4029455"/>
            <a:ext cx="3006547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影响贴壁、负载和抗干扰能力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4575048"/>
            <a:ext cx="1190548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4593336"/>
            <a:ext cx="1135684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外壳与限位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11388" y="4575048"/>
            <a:ext cx="3061411" cy="5638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8820" y="4593336"/>
            <a:ext cx="3006547" cy="527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影响耐磨、密封和长期实验可靠性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偏航关节负责平面转向，俯仰关节提供上下弯曲；交替布置提升空间通过能力，同时增加逆运动学与限位检查工作量。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三 结构与驱动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驱动方式与传感配置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驱动形式决定输出能力，传感配置决定身体形态和接触状态能否被估计。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664208"/>
            <a:ext cx="1657350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682496"/>
            <a:ext cx="1620774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驱动/传感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3150" y="1664208"/>
            <a:ext cx="2121408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1438" y="1682496"/>
            <a:ext cx="2084831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典型对象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4558" y="1664208"/>
            <a:ext cx="2850642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2846" y="1682496"/>
            <a:ext cx="2814066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Microsoft YaHei"/>
              </a:rPr>
              <a:t>主要作用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289048"/>
            <a:ext cx="1657350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307336"/>
            <a:ext cx="1602486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电机/舵机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43150" y="2289048"/>
            <a:ext cx="2121408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0582" y="2307336"/>
            <a:ext cx="2066543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刚性关节链、管道机器人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4558" y="2289048"/>
            <a:ext cx="2850642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1990" y="2307336"/>
            <a:ext cx="2795778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提供可控关节角和较好响应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913888"/>
            <a:ext cx="1657350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932176"/>
            <a:ext cx="1602486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气压/液压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43150" y="2913888"/>
            <a:ext cx="2121408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0582" y="2932176"/>
            <a:ext cx="2066543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软体连续体平台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4558" y="2913888"/>
            <a:ext cx="2850642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1990" y="2932176"/>
            <a:ext cx="2795778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提供柔顺形变和安全接触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538728"/>
            <a:ext cx="1657350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557016"/>
            <a:ext cx="1602486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形状记忆合金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43150" y="3538728"/>
            <a:ext cx="2121408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0582" y="3557016"/>
            <a:ext cx="2066543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小尺度或柔性驱动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64558" y="3538728"/>
            <a:ext cx="2850642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1990" y="3557016"/>
            <a:ext cx="2795778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结构紧凑但响应速度受限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163567"/>
            <a:ext cx="1657350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181855"/>
            <a:ext cx="1602486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磁驱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43150" y="4163567"/>
            <a:ext cx="2121408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0582" y="4181855"/>
            <a:ext cx="2066543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医疗微型平台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64558" y="4163567"/>
            <a:ext cx="2850642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1990" y="4181855"/>
            <a:ext cx="2795778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适合无缆或小尺度腔道导航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788408"/>
            <a:ext cx="1657350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4806695"/>
            <a:ext cx="1602486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C8102E"/>
                </a:solidFill>
                <a:latin typeface="Microsoft YaHei"/>
              </a:rPr>
              <a:t>形状/接触传感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43150" y="4788408"/>
            <a:ext cx="2121408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70582" y="4806695"/>
            <a:ext cx="2066543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软体、水下和全身避障平台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64558" y="4788408"/>
            <a:ext cx="2850642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91990" y="4806695"/>
            <a:ext cx="2795778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1E2A36"/>
                </a:solidFill>
                <a:latin typeface="Microsoft YaHei"/>
              </a:rPr>
              <a:t>恢复身体形态和接触状态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1664208"/>
            <a:ext cx="3337560" cy="141732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ipeline_p03_i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611" y="1719072"/>
            <a:ext cx="1275696" cy="110642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799831" y="2852928"/>
            <a:ext cx="319125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管道关节模块 [Liu 2024]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79" y="3493008"/>
            <a:ext cx="3337560" cy="1627632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underwater_soft_p05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5316" y="3547872"/>
            <a:ext cx="2260286" cy="131673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799831" y="4892040"/>
            <a:ext cx="319125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水下软体结构 [Shi 2025]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驱动决定可输出力、速度和响应带宽，传感决定身体形态与接触状态能否被估计；复杂控制必须建立在状态可观测基础上。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三 结构与驱动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代表性平台：管道、水下、软体与医疗方向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场景专用平台通常降低通用性，换取更可靠的接触、密封或导航能力。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664208"/>
            <a:ext cx="251460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peline_p03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792730"/>
            <a:ext cx="2386584" cy="10962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1" y="2990088"/>
            <a:ext cx="236829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管道多步态机器人 [Liu 2024]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664208"/>
            <a:ext cx="251460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nderwater_soft_p05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222" y="1719072"/>
            <a:ext cx="2134715" cy="12435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56432" y="2990088"/>
            <a:ext cx="236829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水下软体结构 [Shi 2025]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664208"/>
            <a:ext cx="251460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oft_3d_p06_i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633" y="1719072"/>
            <a:ext cx="1952293" cy="12435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99632" y="2990088"/>
            <a:ext cx="236829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三维软体平台 [Wan 2023]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1664208"/>
            <a:ext cx="2240280" cy="15544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onchoscopy_p04_i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645" y="1719072"/>
            <a:ext cx="1522349" cy="124358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42832" y="2990088"/>
            <a:ext cx="209397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微型腔道平台 [Kuan 2023]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3703320"/>
            <a:ext cx="1843430" cy="283464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21607"/>
            <a:ext cx="1806854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平台方向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48102" y="3703320"/>
            <a:ext cx="4301337" cy="283464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6390" y="3721607"/>
            <a:ext cx="4264761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获得的能力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703320"/>
            <a:ext cx="4096511" cy="283464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7" y="3721607"/>
            <a:ext cx="4059935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付出的代价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" y="3986783"/>
            <a:ext cx="1843430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4005071"/>
            <a:ext cx="1788566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管道平台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48102" y="3986783"/>
            <a:ext cx="4301337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5534" y="4005071"/>
            <a:ext cx="4246473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贴壁稳定、弯头通过、内壁覆盖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986783"/>
            <a:ext cx="4096511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76872" y="4005071"/>
            <a:ext cx="4041648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场景适应范围较窄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" y="4270248"/>
            <a:ext cx="1843430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4288536"/>
            <a:ext cx="1788566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水下平台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48102" y="4270248"/>
            <a:ext cx="4301337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75534" y="4288536"/>
            <a:ext cx="4246473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近壁安全移动、低扰动巡检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4270248"/>
            <a:ext cx="4096511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76872" y="4288536"/>
            <a:ext cx="4041648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密封和导航难度增加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" y="4553712"/>
            <a:ext cx="1843430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" y="4571999"/>
            <a:ext cx="1788566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软体平台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48102" y="4553712"/>
            <a:ext cx="4301337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75534" y="4571999"/>
            <a:ext cx="4246473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柔顺接触、形态适应能力强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4553712"/>
            <a:ext cx="4096511" cy="28346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76872" y="4571999"/>
            <a:ext cx="4041648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形状估计和控制精度困难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" y="4837176"/>
            <a:ext cx="1843430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" y="4855464"/>
            <a:ext cx="1788566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医疗平台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48102" y="4837176"/>
            <a:ext cx="4301337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75534" y="4855464"/>
            <a:ext cx="4246473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小尺度导航和低接触风险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4837176"/>
            <a:ext cx="4096511" cy="28346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76872" y="4855464"/>
            <a:ext cx="4041648" cy="24688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驱动空间与定位精度受限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四类平台的差异来自任务约束：管道需贴壁与覆盖，水下需抗扰与密封，软体和医疗平台更强调柔顺性与安全接触。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四 运动建模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运动学建模基础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正运动学由关节角推算身体位姿；逆运动学由目标形态求可执行关节变量。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664208"/>
            <a:ext cx="4983480" cy="1078992"/>
          </a:xfrm>
          <a:prstGeom prst="rect">
            <a:avLst/>
          </a:prstGeom>
          <a:solidFill>
            <a:srgbClr val="F7F9FC"/>
          </a:solidFill>
          <a:ln w="6985">
            <a:solidFill>
              <a:srgbClr val="B8C7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773936"/>
            <a:ext cx="4837176" cy="21031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919" b="1">
                <a:solidFill>
                  <a:srgbClr val="0B4D91"/>
                </a:solidFill>
                <a:latin typeface="Microsoft YaHei"/>
              </a:rPr>
              <a:t>公式位置：Serpenoid 曲线 / D-H 递推 / 空间中心线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084832"/>
            <a:ext cx="4727448" cy="60350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800" b="0">
                <a:solidFill>
                  <a:srgbClr val="5E7186"/>
                </a:solidFill>
                <a:latin typeface="Microsoft YaHei"/>
              </a:rPr>
              <a:t>来源：张东 2022、张军豪等 2022；说明关节变量、相位差与链节位姿变换。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063240"/>
            <a:ext cx="4645152" cy="100584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19" b="0">
                <a:solidFill>
                  <a:srgbClr val="1E2A36"/>
                </a:solidFill>
                <a:latin typeface="Microsoft YaHei"/>
              </a:rPr>
              <a:t>• Serpenoid 曲线适合描述周期身体波和步态参数。</a:t>
            </a:r>
          </a:p>
          <a:p>
            <a:pPr>
              <a:spcAft>
                <a:spcPts val="300"/>
              </a:spcAft>
            </a:pPr>
            <a:r>
              <a:rPr sz="919" b="0">
                <a:solidFill>
                  <a:srgbClr val="1E2A36"/>
                </a:solidFill>
                <a:latin typeface="Microsoft YaHei"/>
              </a:rPr>
              <a:t>• D-H 递推适合由关节角计算每个链节位姿。</a:t>
            </a:r>
          </a:p>
          <a:p>
            <a:pPr>
              <a:spcAft>
                <a:spcPts val="300"/>
              </a:spcAft>
            </a:pPr>
            <a:r>
              <a:rPr sz="919" b="0">
                <a:solidFill>
                  <a:srgbClr val="1E2A36"/>
                </a:solidFill>
                <a:latin typeface="Microsoft YaHei"/>
              </a:rPr>
              <a:t>• 空间中心线适合三维身体形态、避障和连续体平台描述。</a:t>
            </a:r>
          </a:p>
        </p:txBody>
      </p:sp>
      <p:pic>
        <p:nvPicPr>
          <p:cNvPr id="17" name="Picture 16" descr="Fig_Serpenoid曲线_深化版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719072"/>
            <a:ext cx="4800600" cy="211567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355080" y="3840480"/>
            <a:ext cx="4251960" cy="132588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nderwater_soft_p08_i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692" y="3895344"/>
            <a:ext cx="2230734" cy="101498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28232" y="4937760"/>
            <a:ext cx="410565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蛇形曲线与实际形态示例 [Shi 2025]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321808"/>
            <a:ext cx="10561320" cy="658368"/>
          </a:xfrm>
          <a:prstGeom prst="rect">
            <a:avLst/>
          </a:prstGeom>
          <a:solidFill>
            <a:srgbClr val="FFF7ED"/>
          </a:solidFill>
          <a:ln w="1016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C8102E"/>
                </a:solidFill>
                <a:latin typeface="微软雅黑"/>
              </a:rPr>
              <a:t>公式含义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Serpenoid 描述期望身体波；D-H 递推把关节角映射为链节位姿；空间中心线用于三维避障、形态估计和连续体平台描述。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四 运动建模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连续曲线到离散关节链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空间曲线适合描述期望体形，离散关节链适合生成可执行命令。</a:t>
            </a:r>
          </a:p>
        </p:txBody>
      </p:sp>
      <p:pic>
        <p:nvPicPr>
          <p:cNvPr id="13" name="Picture 12" descr="Fig_连续曲线到离散关节_中文线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27632"/>
            <a:ext cx="5715000" cy="253259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720840" y="1810512"/>
            <a:ext cx="1177747" cy="576072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7" y="1828800"/>
            <a:ext cx="1141171" cy="53949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icrosoft YaHei"/>
              </a:rPr>
              <a:t>步骤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8587" y="1810512"/>
            <a:ext cx="3028492" cy="576072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6875" y="1828800"/>
            <a:ext cx="2991916" cy="53949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2386584"/>
            <a:ext cx="1177747" cy="576072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2404872"/>
            <a:ext cx="1122883" cy="53949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1 选取形态函数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8587" y="2386584"/>
            <a:ext cx="3028492" cy="576072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6019" y="2404872"/>
            <a:ext cx="2973628" cy="53949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用中心线或曲率函数描述期望身体形态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962656"/>
            <a:ext cx="1177747" cy="576072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2980944"/>
            <a:ext cx="1122883" cy="53949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2 按模块离散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8587" y="2962656"/>
            <a:ext cx="3028492" cy="576072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6019" y="2980944"/>
            <a:ext cx="2973628" cy="53949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根据模块长度确定相邻段方向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538728"/>
            <a:ext cx="1177747" cy="576072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3557016"/>
            <a:ext cx="1122883" cy="53949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3 求关节角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8587" y="3538728"/>
            <a:ext cx="3028492" cy="576072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6019" y="3557016"/>
            <a:ext cx="2973628" cy="53949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由相邻段夹角得到关节输入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4114800"/>
            <a:ext cx="1177747" cy="576072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4133087"/>
            <a:ext cx="1122883" cy="53949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4 加入约束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98587" y="4114800"/>
            <a:ext cx="3028492" cy="576072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6019" y="4133087"/>
            <a:ext cx="2973628" cy="53949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检查最大弯角、曲率连续和障碍距离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4983480"/>
            <a:ext cx="4069080" cy="274320"/>
          </a:xfrm>
          <a:prstGeom prst="rect">
            <a:avLst/>
          </a:prstGeom>
          <a:solidFill>
            <a:srgbClr val="F4F8FC"/>
          </a:solidFill>
          <a:ln w="444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5038344"/>
            <a:ext cx="3922776" cy="18287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819" b="1">
                <a:solidFill>
                  <a:srgbClr val="073763"/>
                </a:solidFill>
                <a:latin typeface="Microsoft YaHei"/>
              </a:rPr>
              <a:t>连续形态只有转化为关节变量后，才能进入控制器和执行机构。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建模顺序是先给出期望中心线，再按模块长度离散，由相邻切向量求关节角，最后检查曲率连续、关节限位和障碍距离。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四 运动建模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动力学与接触力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多体动力学模型必须说明接触力和环境阻力如何进入广义力项。</a:t>
            </a:r>
          </a:p>
        </p:txBody>
      </p:sp>
      <p:pic>
        <p:nvPicPr>
          <p:cNvPr id="13" name="Picture 12" descr="Fig_动力学接触力项_中文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91056"/>
            <a:ext cx="5669280" cy="259019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720840" y="1691640"/>
            <a:ext cx="41605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riction_p03_i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858" y="1746504"/>
            <a:ext cx="2284483" cy="15179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93992" y="3291840"/>
            <a:ext cx="4014215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摩擦受力/推进模型图 [2021]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767328"/>
            <a:ext cx="955547" cy="26517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3785615"/>
            <a:ext cx="918971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Microsoft YaHei"/>
              </a:rPr>
              <a:t>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39228" y="3767328"/>
            <a:ext cx="1693926" cy="26517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7516" y="3785615"/>
            <a:ext cx="1657350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Microsoft YaHei"/>
              </a:rPr>
              <a:t>工程含义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3154" y="3767328"/>
            <a:ext cx="1693926" cy="265176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1442" y="3785615"/>
            <a:ext cx="1657350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Microsoft YaHei"/>
              </a:rPr>
              <a:t>实际困难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032504"/>
            <a:ext cx="955547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4050791"/>
            <a:ext cx="900683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1">
                <a:solidFill>
                  <a:srgbClr val="C8102E"/>
                </a:solidFill>
                <a:latin typeface="Microsoft YaHei"/>
              </a:rPr>
              <a:t>M,C,g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39228" y="4032504"/>
            <a:ext cx="1693926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6660" y="4050791"/>
            <a:ext cx="1639062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惯性、速度相关项、重力项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3154" y="4032504"/>
            <a:ext cx="1693926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0586" y="4050791"/>
            <a:ext cx="1639062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高自由度导致计算量增加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297680"/>
            <a:ext cx="955547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4315968"/>
            <a:ext cx="900683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1">
                <a:solidFill>
                  <a:srgbClr val="C8102E"/>
                </a:solidFill>
                <a:latin typeface="Microsoft YaHei"/>
              </a:rPr>
              <a:t>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39228" y="4297680"/>
            <a:ext cx="1693926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66660" y="4315968"/>
            <a:ext cx="1639062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关节或驱动输入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3154" y="4297680"/>
            <a:ext cx="1693926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0586" y="4315968"/>
            <a:ext cx="1639062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受力矩、压力和响应带宽限制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562856"/>
            <a:ext cx="955547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4581144"/>
            <a:ext cx="900683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1">
                <a:solidFill>
                  <a:srgbClr val="C8102E"/>
                </a:solidFill>
                <a:latin typeface="Microsoft YaHei"/>
              </a:rPr>
              <a:t>Jcᵀλ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39228" y="4562856"/>
            <a:ext cx="1693926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66660" y="4581144"/>
            <a:ext cx="1639062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接触力对关节的影响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3154" y="4562856"/>
            <a:ext cx="1693926" cy="265176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60586" y="4581144"/>
            <a:ext cx="1639062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接触点随环境切换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828032"/>
            <a:ext cx="955547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11112" y="4846320"/>
            <a:ext cx="900683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1">
                <a:solidFill>
                  <a:srgbClr val="C8102E"/>
                </a:solidFill>
                <a:latin typeface="Microsoft YaHei"/>
              </a:rPr>
              <a:t>Qf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39228" y="4828032"/>
            <a:ext cx="1693926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6660" y="4846320"/>
            <a:ext cx="1639062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摩擦、流体或外扰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3154" y="4828032"/>
            <a:ext cx="1693926" cy="265176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60586" y="4846320"/>
            <a:ext cx="1639062" cy="228599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1E2A36"/>
                </a:solidFill>
                <a:latin typeface="Microsoft YaHei"/>
              </a:rPr>
              <a:t>参数随表面和速度变化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5321808"/>
            <a:ext cx="10561320" cy="658368"/>
          </a:xfrm>
          <a:prstGeom prst="rect">
            <a:avLst/>
          </a:prstGeom>
          <a:solidFill>
            <a:srgbClr val="FFF7ED"/>
          </a:solidFill>
          <a:ln w="1016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C8102E"/>
                </a:solidFill>
                <a:latin typeface="微软雅黑"/>
              </a:rPr>
              <a:t>公式含义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M、C、g 表示机器人自身动力学项，τ 表示驱动输入；Jcᵀλ 和 Qf 分别把接触约束、摩擦、流体阻力写入广义力。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四 运动建模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水下与软体系统建模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水下和软体平台需要同时处理流体阻力、材料迟滞、形状感知和实时近似。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664208"/>
            <a:ext cx="3063240" cy="16916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nderwater_soft_p06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627" y="1719072"/>
            <a:ext cx="2184721" cy="1380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19" y="3127248"/>
            <a:ext cx="291693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水下软体平台控制结构 [Shi 2025]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1664208"/>
            <a:ext cx="3063240" cy="16916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oft_3d_p08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1841104"/>
            <a:ext cx="2935224" cy="11366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50791" y="3127248"/>
            <a:ext cx="291693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三维软体蛇形机器人仿真/实验 [Wan 2023]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664208"/>
            <a:ext cx="3429000" cy="16916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nderwater_soft_p08_i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910" y="1719072"/>
            <a:ext cx="1653003" cy="1380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70064" y="3127248"/>
            <a:ext cx="328269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在线控制/形状感知结果 [Shi 2025]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" y="3886200"/>
            <a:ext cx="2020824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04487"/>
            <a:ext cx="1984248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对象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25496" y="3886200"/>
            <a:ext cx="4344771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43784" y="3904487"/>
            <a:ext cx="4308195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不能忽略的因素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0267" y="3886200"/>
            <a:ext cx="3738524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8555" y="3904487"/>
            <a:ext cx="3701948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常见处理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" y="4171950"/>
            <a:ext cx="2020824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4190237"/>
            <a:ext cx="1965960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水下平台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25496" y="4171950"/>
            <a:ext cx="4344771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2928" y="4190237"/>
            <a:ext cx="4289907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附加质量、阻尼、流体扰动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0267" y="4171950"/>
            <a:ext cx="3738524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97699" y="4190237"/>
            <a:ext cx="3683660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阻力理论、简化流体载荷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" y="4457700"/>
            <a:ext cx="2020824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4475988"/>
            <a:ext cx="1965960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软体平台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25496" y="4457700"/>
            <a:ext cx="4344771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52928" y="4475988"/>
            <a:ext cx="4289907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材料非线性、迟滞、形状难测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0267" y="4457700"/>
            <a:ext cx="3738524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97699" y="4475988"/>
            <a:ext cx="3683660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降阶模型、实验标定、在线修正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" y="4743450"/>
            <a:ext cx="2020824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" y="4761738"/>
            <a:ext cx="1965960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刚柔组合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25496" y="4743450"/>
            <a:ext cx="4344771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52928" y="4761738"/>
            <a:ext cx="4289907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刚性段与柔顺段参数差异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0267" y="4743450"/>
            <a:ext cx="3738524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97699" y="4761738"/>
            <a:ext cx="3683660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分模块建模、接口约束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水下和软体系统的核心难点是模型参数随环境和材料状态变化，需要用低阶近似或在线估计把不确定效应转化为可控变量。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五 运动控制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控制方法总览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控制内容包括步态参数、CPG/Hopf、LOS 制导、MPC 避障和学习调参。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664208"/>
            <a:ext cx="1490472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682496"/>
            <a:ext cx="145389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1664208"/>
            <a:ext cx="2086660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8" y="1682496"/>
            <a:ext cx="2050084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输入状态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5500" y="1664208"/>
            <a:ext cx="1863090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3788" y="1682496"/>
            <a:ext cx="1826514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控制量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8590" y="1664208"/>
            <a:ext cx="2012137" cy="64008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6878" y="1682496"/>
            <a:ext cx="1975561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Microsoft YaHei"/>
              </a:rPr>
              <a:t>适用场景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304288"/>
            <a:ext cx="1490472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322576"/>
            <a:ext cx="1435608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1">
                <a:solidFill>
                  <a:srgbClr val="C8102E"/>
                </a:solidFill>
                <a:latin typeface="Microsoft YaHei"/>
              </a:rPr>
              <a:t>参数化步态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2304288"/>
            <a:ext cx="208666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6272" y="2322576"/>
            <a:ext cx="203179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时间、关节序号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5500" y="2304288"/>
            <a:ext cx="186309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2932" y="2322576"/>
            <a:ext cx="180822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幅值、频率、相位差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8590" y="2304288"/>
            <a:ext cx="2012137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022" y="2322576"/>
            <a:ext cx="1957273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规则环境和基准实验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944368"/>
            <a:ext cx="1490472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2962656"/>
            <a:ext cx="1435608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1">
                <a:solidFill>
                  <a:srgbClr val="C8102E"/>
                </a:solidFill>
                <a:latin typeface="Microsoft YaHei"/>
              </a:rPr>
              <a:t>CPG/Hopf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2944368"/>
            <a:ext cx="208666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76272" y="2962656"/>
            <a:ext cx="203179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振荡器状态、反馈量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35500" y="2944368"/>
            <a:ext cx="186309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2932" y="2962656"/>
            <a:ext cx="180822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相位、偏置、频率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8590" y="2944368"/>
            <a:ext cx="2012137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022" y="2962656"/>
            <a:ext cx="1957273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多关节节律协调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3584448"/>
            <a:ext cx="1490472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602736"/>
            <a:ext cx="1435608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1">
                <a:solidFill>
                  <a:srgbClr val="C8102E"/>
                </a:solidFill>
                <a:latin typeface="Microsoft YaHei"/>
              </a:rPr>
              <a:t>LOS 制导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3584448"/>
            <a:ext cx="208666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76272" y="3602736"/>
            <a:ext cx="203179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路径误差、航向、侧滑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35500" y="3584448"/>
            <a:ext cx="186309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2932" y="3602736"/>
            <a:ext cx="180822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前视距离、航向修正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8590" y="3584448"/>
            <a:ext cx="2012137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022" y="3602736"/>
            <a:ext cx="1957273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路径跟踪和水下制导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224528"/>
            <a:ext cx="1490472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242816"/>
            <a:ext cx="1435608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1">
                <a:solidFill>
                  <a:srgbClr val="C8102E"/>
                </a:solidFill>
                <a:latin typeface="Microsoft YaHei"/>
              </a:rPr>
              <a:t>MPC 避障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4224528"/>
            <a:ext cx="208666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76272" y="4242816"/>
            <a:ext cx="203179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身体包络、障碍距离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35500" y="4224528"/>
            <a:ext cx="1863090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62932" y="4242816"/>
            <a:ext cx="180822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未来关节序列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8590" y="4224528"/>
            <a:ext cx="2012137" cy="64008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022" y="4242816"/>
            <a:ext cx="1957273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全身安全和多约束求解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864608"/>
            <a:ext cx="1490472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882896"/>
            <a:ext cx="1435608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1">
                <a:solidFill>
                  <a:srgbClr val="C8102E"/>
                </a:solidFill>
                <a:latin typeface="Microsoft YaHei"/>
              </a:rPr>
              <a:t>学习调参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48840" y="4864608"/>
            <a:ext cx="208666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76272" y="4882896"/>
            <a:ext cx="203179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形状、接触、速度反馈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35500" y="4864608"/>
            <a:ext cx="1863090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62932" y="4882896"/>
            <a:ext cx="1808226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CPG 输入或策略切换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8590" y="4864608"/>
            <a:ext cx="2012137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022" y="4882896"/>
            <a:ext cx="1957273" cy="6035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50" b="0">
                <a:solidFill>
                  <a:srgbClr val="1E2A36"/>
                </a:solidFill>
                <a:latin typeface="Microsoft YaHei"/>
              </a:rPr>
              <a:t>未知接触和模型误差补偿</a:t>
            </a:r>
          </a:p>
        </p:txBody>
      </p:sp>
      <p:pic>
        <p:nvPicPr>
          <p:cNvPr id="61" name="Picture 60" descr="Fig_CPG_Hopf控制_深化版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828800"/>
            <a:ext cx="2606040" cy="106255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30768" y="4937760"/>
            <a:ext cx="24688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0">
                <a:solidFill>
                  <a:srgbClr val="5E7186"/>
                </a:solidFill>
                <a:latin typeface="Microsoft YaHei"/>
              </a:rPr>
              <a:t>CPG/Hopf 参数关系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比较控制方法时看输入状态、输出控制量和环境假设；不能只按算法名称判断优劣，应看它处理的是步态参数、路径误差还是安全约束。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五 运动控制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CPG 与 Hopf 振荡器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Central Pattern Generator 将多关节协调转化为振荡器状态与相位关系。</a:t>
            </a:r>
          </a:p>
        </p:txBody>
      </p:sp>
      <p:pic>
        <p:nvPicPr>
          <p:cNvPr id="13" name="Picture 12" descr="Fig_CPG_Hopf控制_深化版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27632"/>
            <a:ext cx="5989320" cy="24420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86600" y="1755648"/>
            <a:ext cx="3886200" cy="1170432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1E2A36"/>
                </a:solidFill>
                <a:latin typeface="Microsoft YaHei"/>
              </a:rPr>
              <a:t>• CPG 的价值在于用少量参数协调多个关节，而不是直接解决路径规划。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E2A36"/>
                </a:solidFill>
                <a:latin typeface="Microsoft YaHei"/>
              </a:rPr>
              <a:t>• Hopf 振荡器可产生稳定极限环，便于调整幅值、频率和偏置。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1E2A36"/>
                </a:solidFill>
                <a:latin typeface="Microsoft YaHei"/>
              </a:rPr>
              <a:t>• 转向通常通过左右/前后偏置或相位调整实现。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3337560"/>
            <a:ext cx="3703320" cy="1188720"/>
          </a:xfrm>
          <a:prstGeom prst="rect">
            <a:avLst/>
          </a:prstGeom>
          <a:solidFill>
            <a:srgbClr val="F7F9FC"/>
          </a:solidFill>
          <a:ln w="6985">
            <a:solidFill>
              <a:srgbClr val="B8C7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1192" y="3447288"/>
            <a:ext cx="3557015" cy="21031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919" b="1">
                <a:solidFill>
                  <a:srgbClr val="0B4D91"/>
                </a:solidFill>
                <a:latin typeface="Microsoft YaHei"/>
              </a:rPr>
              <a:t>公式位置：Hopf 或 Matsuoka 振荡器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5" y="3758184"/>
            <a:ext cx="3447287" cy="71323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800" b="0">
                <a:solidFill>
                  <a:srgbClr val="5E7186"/>
                </a:solidFill>
                <a:latin typeface="Microsoft YaHei"/>
              </a:rPr>
              <a:t>来源：Hopf 振荡器步态控制、Liu 2023、Liu 2025；说明幅值、频率、相位与偏置。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321808"/>
            <a:ext cx="10561320" cy="658368"/>
          </a:xfrm>
          <a:prstGeom prst="rect">
            <a:avLst/>
          </a:prstGeom>
          <a:solidFill>
            <a:srgbClr val="FFF7ED"/>
          </a:solidFill>
          <a:ln w="1016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C8102E"/>
                </a:solidFill>
                <a:latin typeface="微软雅黑"/>
              </a:rPr>
              <a:t>公式含义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振荡器参数包括幅值 A、频率 ω、相位 φ 和偏置 b；它们共同决定身体波传播速度、转向方向和关节中位姿态。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五 运动控制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路径跟踪与 LOS 制导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头部或参考点跟踪不能自动保证中后段安全，需要结合身体形态约束。</a:t>
            </a:r>
          </a:p>
        </p:txBody>
      </p:sp>
      <p:pic>
        <p:nvPicPr>
          <p:cNvPr id="13" name="Picture 12" descr="Fig_LOS_MPC区别_深化版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64208"/>
            <a:ext cx="5989320" cy="257511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040880" y="1783080"/>
            <a:ext cx="1152144" cy="466344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801368"/>
            <a:ext cx="1115568" cy="4297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变量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783080"/>
            <a:ext cx="2688336" cy="466344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801368"/>
            <a:ext cx="2651760" cy="4297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2249424"/>
            <a:ext cx="1152144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68312" y="2267712"/>
            <a:ext cx="1097280" cy="4297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前视距离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2249424"/>
            <a:ext cx="2688336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2267712"/>
            <a:ext cx="2633472" cy="4297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影响转向平滑性和路径收敛速度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2715768"/>
            <a:ext cx="1152144" cy="46634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2734056"/>
            <a:ext cx="1097280" cy="4297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路径误差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4" y="2715768"/>
            <a:ext cx="2688336" cy="46634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2734056"/>
            <a:ext cx="2633472" cy="4297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参考点与期望路径之间的横向偏差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182112"/>
            <a:ext cx="1152144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68312" y="3200400"/>
            <a:ext cx="1097280" cy="4297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侧滑补偿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4" y="3182112"/>
            <a:ext cx="2688336" cy="466344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3200400"/>
            <a:ext cx="2633472" cy="4297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修正身体波推进导致的速度方向偏差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3648456"/>
            <a:ext cx="1152144" cy="46634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68312" y="3666744"/>
            <a:ext cx="1097280" cy="4297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身体包络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93024" y="3648456"/>
            <a:ext cx="2688336" cy="466344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3666744"/>
            <a:ext cx="2633472" cy="4297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限制中后段与障碍物的最小距离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4370832"/>
            <a:ext cx="3657600" cy="731520"/>
          </a:xfrm>
          <a:prstGeom prst="rect">
            <a:avLst/>
          </a:prstGeom>
          <a:solidFill>
            <a:srgbClr val="F7F9FC"/>
          </a:solidFill>
          <a:ln w="6985">
            <a:solidFill>
              <a:srgbClr val="B8C7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4480560"/>
            <a:ext cx="3511296" cy="21031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919" b="1">
                <a:solidFill>
                  <a:srgbClr val="0B4D91"/>
                </a:solidFill>
                <a:latin typeface="Microsoft YaHei"/>
              </a:rPr>
              <a:t>公式位置：LOS 制导/侧滑补偿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6055" y="4791456"/>
            <a:ext cx="3401568" cy="25603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800" b="0">
                <a:solidFill>
                  <a:srgbClr val="5E7186"/>
                </a:solidFill>
                <a:latin typeface="Microsoft YaHei"/>
              </a:rPr>
              <a:t>来源：Xiu 等 2023；说明前视距离、路径误差与侧滑补偿项。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321808"/>
            <a:ext cx="10561320" cy="658368"/>
          </a:xfrm>
          <a:prstGeom prst="rect">
            <a:avLst/>
          </a:prstGeom>
          <a:solidFill>
            <a:srgbClr val="FFF7ED"/>
          </a:solidFill>
          <a:ln w="1016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C8102E"/>
                </a:solidFill>
                <a:latin typeface="微软雅黑"/>
              </a:rPr>
              <a:t>公式含义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LOS 主要处理参考点到期望路径的几何误差；MPC 进一步把身体包络、安全距离和关节限位写成可求解的约束。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五 运动控制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全身避障：身体包络与安全距离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全身避障把各链节包络、障碍距离和关节限位同时纳入优化。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64208"/>
            <a:ext cx="3840480" cy="105156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头部绕开障碍后，中后段仍可能擦碰或卡滞。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全身避障需要估计每一段身体包络与障碍物的距离。</a:t>
            </a:r>
          </a:p>
          <a:p>
            <a:pPr>
              <a:spcAft>
                <a:spcPts val="300"/>
              </a:spcAft>
            </a:pPr>
            <a:r>
              <a:rPr sz="940" b="0">
                <a:solidFill>
                  <a:srgbClr val="1E2A36"/>
                </a:solidFill>
                <a:latin typeface="Microsoft YaHei"/>
              </a:rPr>
              <a:t>• MPC 可同时处理路径误差、关节变化量和安全距离约束。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664208"/>
            <a:ext cx="2880360" cy="14630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holebody_avoidance_p03_i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965997"/>
            <a:ext cx="2752344" cy="6582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73752" y="2898648"/>
            <a:ext cx="273405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全身状态与避障问题定义 [Li 2024]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664208"/>
            <a:ext cx="2880360" cy="146304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holebody_avoidance_p07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665" y="1719072"/>
            <a:ext cx="2409028" cy="11521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74152" y="2898648"/>
            <a:ext cx="273405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路径、障碍与安全距离 [Li 2024]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3611880"/>
            <a:ext cx="6080760" cy="1627632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holebody_avoidance_p08_i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424" y="3666744"/>
            <a:ext cx="2331110" cy="13167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73752" y="5010912"/>
            <a:ext cx="5934456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全身避障实验序列 [Li 2024]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判断避障效果不能只看头部轨迹，还要检查中后段与障碍的最小距离；实验序列用于验证整条身体是否无碰通过。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五 运动控制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学习增强控制：调参和补偿不确定性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强化学习更适合调节 CPG 参数和补偿接触变化，而不是替代基本模型。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783080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83080"/>
            <a:ext cx="54864" cy="1005840"/>
          </a:xfrm>
          <a:prstGeom prst="rect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892807"/>
            <a:ext cx="256032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保留物理节律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85416"/>
            <a:ext cx="2560320" cy="548640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用 CPG 或参数化步态保证动作连续，不从零生成全部关节信号。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2194560"/>
            <a:ext cx="320040" cy="182880"/>
          </a:xfrm>
          <a:prstGeom prst="rightArrow">
            <a:avLst/>
          </a:prstGeom>
          <a:solidFill>
            <a:srgbClr val="B8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1783080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783080"/>
            <a:ext cx="54864" cy="1005840"/>
          </a:xfrm>
          <a:prstGeom prst="rect">
            <a:avLst/>
          </a:prstGeom>
          <a:solidFill>
            <a:srgbClr val="4C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892807"/>
            <a:ext cx="256032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学习调节参数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185416"/>
            <a:ext cx="2560320" cy="548640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强化学习调节振幅、频率、偏置或策略切换。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86600" y="2194560"/>
            <a:ext cx="320040" cy="182880"/>
          </a:xfrm>
          <a:prstGeom prst="rightArrow">
            <a:avLst/>
          </a:prstGeom>
          <a:solidFill>
            <a:srgbClr val="B8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43800" y="1783080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43800" y="1783080"/>
            <a:ext cx="54864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1892807"/>
            <a:ext cx="256032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依赖状态反馈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185416"/>
            <a:ext cx="2560320" cy="548640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形状、接触和速度反馈不足时，实物泛化能力会下降。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657600"/>
            <a:ext cx="2192731" cy="33147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3675887"/>
            <a:ext cx="2156155" cy="29489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icrosoft YaHei"/>
              </a:rPr>
              <a:t>代表工作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2851" y="3657600"/>
            <a:ext cx="7774228" cy="33147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71139" y="3675887"/>
            <a:ext cx="7737652" cy="29489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icrosoft YaHei"/>
              </a:rPr>
              <a:t>具体作用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3989070"/>
            <a:ext cx="2192731" cy="33147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007357"/>
            <a:ext cx="2137867" cy="29489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Liu 2023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2851" y="3989070"/>
            <a:ext cx="7774228" cy="33147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80283" y="4007357"/>
            <a:ext cx="7719364" cy="29489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用强化学习调节 Matsuoka CPG 输入，改善软体平台步态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320540"/>
            <a:ext cx="2192731" cy="33147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338827"/>
            <a:ext cx="2137867" cy="29489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Liu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2851" y="4320540"/>
            <a:ext cx="7774228" cy="33147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80283" y="4338827"/>
            <a:ext cx="7719364" cy="29489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引入接触感知机制，使 CPG 参数随障碍接触变化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4652010"/>
            <a:ext cx="2192731" cy="33147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670298"/>
            <a:ext cx="2137867" cy="29489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1">
                <a:solidFill>
                  <a:srgbClr val="C8102E"/>
                </a:solidFill>
                <a:latin typeface="Microsoft YaHei"/>
              </a:rPr>
              <a:t>Shi 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2851" y="4652010"/>
            <a:ext cx="7774228" cy="33147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80283" y="4670298"/>
            <a:ext cx="7719364" cy="29489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20" b="0">
                <a:solidFill>
                  <a:srgbClr val="1E2A36"/>
                </a:solidFill>
                <a:latin typeface="Microsoft YaHei"/>
              </a:rPr>
              <a:t>结合自运动感知与在线控制，提高水下软体平台稳定性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学习方法主要承担参数调节和不确定性补偿；若缺少形状、速度和接触反馈，策略在真实环境中的泛化会明显受限。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六 典型应用与展望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管道检测应用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管道场景关注弯头通过、螺旋贴壁、内壁覆盖和检测姿态。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peline_p07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94" y="1719072"/>
            <a:ext cx="2652131" cy="15179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3264408"/>
            <a:ext cx="3099815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管道内壁检测与螺旋轨迹 [Liu 2024]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ipeline_p08_i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641" y="1719072"/>
            <a:ext cx="1399878" cy="1517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33672" y="3264408"/>
            <a:ext cx="3099815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管道检测实验结果 [Liu 2024]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ipeline_p03_i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235" y="1719072"/>
            <a:ext cx="1750128" cy="15179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08392" y="3264408"/>
            <a:ext cx="3099815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管道机器人关节模块 [Liu 2024]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977639"/>
            <a:ext cx="2803550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995927"/>
            <a:ext cx="2766974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任务要求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2230" y="3977639"/>
            <a:ext cx="4005072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90518" y="3995927"/>
            <a:ext cx="3968496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对应结构/控制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77302" y="3977639"/>
            <a:ext cx="3204057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5590" y="3995927"/>
            <a:ext cx="3167481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应报告指标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263390"/>
            <a:ext cx="2803550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281677"/>
            <a:ext cx="2748686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弯头通过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2230" y="4263390"/>
            <a:ext cx="4005072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9662" y="4281677"/>
            <a:ext cx="3950208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小转弯半径、多关节协调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77302" y="4263390"/>
            <a:ext cx="3204057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04734" y="4281677"/>
            <a:ext cx="3149193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弯头通过率、最大弯曲角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549140"/>
            <a:ext cx="2803550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567427"/>
            <a:ext cx="2748686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内壁覆盖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72230" y="4549140"/>
            <a:ext cx="4005072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99662" y="4567427"/>
            <a:ext cx="3950208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螺旋贴壁步态、稳定接触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77302" y="4549140"/>
            <a:ext cx="3204057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04734" y="4567427"/>
            <a:ext cx="3149193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覆盖率、姿态波动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4834890"/>
            <a:ext cx="2803550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4853177"/>
            <a:ext cx="2748686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检测姿态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72230" y="4834890"/>
            <a:ext cx="4005072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99662" y="4853177"/>
            <a:ext cx="3950208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传感器朝向与轴向推进速度协调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77302" y="4834890"/>
            <a:ext cx="3204057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04734" y="4853177"/>
            <a:ext cx="3149193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图像稳定性、重复成功率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管道应用要同时观察贴壁稳定性、弯头通过能力和传感器朝向；图像质量、覆盖率和重复通过率比单纯速度更关键。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六 典型应用与展望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灾后搜救与狭小空间探测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搜救场景关注缝隙进入、通信回传、轻量操作和重复成功率。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view_structure_p06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94" y="1719072"/>
            <a:ext cx="2692131" cy="15179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3264408"/>
            <a:ext cx="3099815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狭小空间/搜救平台示例 [张军豪等 2022]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eview_structure_p06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514" y="1719072"/>
            <a:ext cx="2692131" cy="1517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33672" y="3264408"/>
            <a:ext cx="3099815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搜救平台结构示例 [张军豪等 2022]</a:t>
            </a:r>
          </a:p>
        </p:txBody>
      </p:sp>
      <p:pic>
        <p:nvPicPr>
          <p:cNvPr id="19" name="Picture 18" descr="Fig_应用场景组图模板_中文图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755648"/>
            <a:ext cx="3154680" cy="140893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68680" y="3977639"/>
            <a:ext cx="2603296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995927"/>
            <a:ext cx="2566720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任务要求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1976" y="3977639"/>
            <a:ext cx="4205325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0264" y="3995927"/>
            <a:ext cx="4168749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主要困难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77302" y="3977639"/>
            <a:ext cx="3204057" cy="28575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5590" y="3995927"/>
            <a:ext cx="3167481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应报告指标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263390"/>
            <a:ext cx="2603296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281677"/>
            <a:ext cx="2548432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狭缝进入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1976" y="4263390"/>
            <a:ext cx="4205325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99408" y="4281677"/>
            <a:ext cx="4150461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通道尺寸不规则，支撑点不连续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77302" y="4263390"/>
            <a:ext cx="3204057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04734" y="4281677"/>
            <a:ext cx="3149193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最小通道尺寸、通过成功率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549140"/>
            <a:ext cx="2603296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567427"/>
            <a:ext cx="2548432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通信回传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1976" y="4549140"/>
            <a:ext cx="4205325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99408" y="4567427"/>
            <a:ext cx="4150461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遮挡和复杂结构影响信号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77302" y="4549140"/>
            <a:ext cx="3204057" cy="28575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4734" y="4567427"/>
            <a:ext cx="3149193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通信距离、图像回传质量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834890"/>
            <a:ext cx="2603296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853177"/>
            <a:ext cx="2548432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轻量操作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1976" y="4834890"/>
            <a:ext cx="4205325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99408" y="4853177"/>
            <a:ext cx="4150461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末端负载改变全身姿态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77302" y="4834890"/>
            <a:ext cx="3204057" cy="28575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04734" y="4853177"/>
            <a:ext cx="3149193" cy="24917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负载质量、操作稳定性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搜救场景关注进入能力和回传能力；平台越轻，越需要处理牵引、电缆、负载和不连续支撑对全身姿态的影响。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六 典型应用与展望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水下巡检与医疗腔道导航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水下系统重视流体扰动和密封，医疗系统重视尺度、柔顺性和接触安全。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nderwater_soft_p03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138" y="1719072"/>
            <a:ext cx="2679442" cy="15179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" y="3264408"/>
            <a:ext cx="3099815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水下软体蛇形机器人 [Shi 2025]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nderwater_soft_p06_i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364" y="1719072"/>
            <a:ext cx="2760430" cy="1517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33672" y="3264408"/>
            <a:ext cx="3099815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水下平台控制/实验结果 [Shi 2025]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664208"/>
            <a:ext cx="3246120" cy="1828800"/>
          </a:xfrm>
          <a:prstGeom prst="rect">
            <a:avLst/>
          </a:prstGeom>
          <a:solidFill>
            <a:srgbClr val="FFFFFF"/>
          </a:solidFill>
          <a:ln w="571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ronchoscopy_p04_i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219" y="1719072"/>
            <a:ext cx="1858161" cy="15179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08392" y="3264408"/>
            <a:ext cx="3099815" cy="13716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0">
                <a:solidFill>
                  <a:srgbClr val="5E7186"/>
                </a:solidFill>
                <a:latin typeface="Microsoft YaHei"/>
              </a:rPr>
              <a:t>支气管导航平台 [Kuan 2023]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977639"/>
            <a:ext cx="1802282" cy="3810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995927"/>
            <a:ext cx="1765706" cy="3444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962" y="3977639"/>
            <a:ext cx="4605832" cy="3810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89250" y="3995927"/>
            <a:ext cx="4569256" cy="3444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关键约束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76795" y="3977639"/>
            <a:ext cx="3604564" cy="381000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5083" y="3995927"/>
            <a:ext cx="3567988" cy="3444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Microsoft YaHei"/>
              </a:rPr>
              <a:t>应报告指标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358640"/>
            <a:ext cx="1802282" cy="3810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376928"/>
            <a:ext cx="1747418" cy="3444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水下巡检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962" y="4358640"/>
            <a:ext cx="4605832" cy="3810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8394" y="4376928"/>
            <a:ext cx="4550968" cy="3444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流体扰动、密封可靠、近壁安全运动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76795" y="4358640"/>
            <a:ext cx="3604564" cy="381000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04227" y="4376928"/>
            <a:ext cx="3549700" cy="3444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轨迹误差、续航、密封可靠性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739639"/>
            <a:ext cx="1802282" cy="3810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757927"/>
            <a:ext cx="1747418" cy="3444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1">
                <a:solidFill>
                  <a:srgbClr val="C8102E"/>
                </a:solidFill>
                <a:latin typeface="Microsoft YaHei"/>
              </a:rPr>
              <a:t>医疗腔道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70962" y="4739639"/>
            <a:ext cx="4605832" cy="3810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8394" y="4757927"/>
            <a:ext cx="4550968" cy="3444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小尺度驱动、低接触风险、路径定位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76795" y="4739639"/>
            <a:ext cx="3604564" cy="381000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04227" y="4757927"/>
            <a:ext cx="3549700" cy="34442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10" b="0">
                <a:solidFill>
                  <a:srgbClr val="1E2A36"/>
                </a:solidFill>
                <a:latin typeface="Microsoft YaHei"/>
              </a:rPr>
              <a:t>接触力、定位误差、到达率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6FB"/>
          </a:solidFill>
          <a:ln w="10160">
            <a:solidFill>
              <a:srgbClr val="1D70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1D70B7"/>
                </a:solidFill>
                <a:latin typeface="微软雅黑"/>
              </a:rPr>
              <a:t>读图要点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水下与医疗都要求安全接触，但尺度、阻力来源和允许接触力不同；因此两类平台不能直接套用同一动力学模型。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六 典型应用与展望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仍需解决的问题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全身状态获取、接触模型、软体形状感知和长期实验仍制约工程部署。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1664208"/>
            <a:ext cx="2048255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82496"/>
            <a:ext cx="2011679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1487" y="1664208"/>
            <a:ext cx="3994099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9775" y="1682496"/>
            <a:ext cx="3957523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具体表现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55587" y="1664208"/>
            <a:ext cx="4198924" cy="624839"/>
          </a:xfrm>
          <a:prstGeom prst="rect">
            <a:avLst/>
          </a:prstGeom>
          <a:solidFill>
            <a:srgbClr val="0B4D91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73875" y="1682496"/>
            <a:ext cx="4162348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改进方向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289048"/>
            <a:ext cx="2048255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2307336"/>
            <a:ext cx="1993391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全身状态获取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1487" y="2289048"/>
            <a:ext cx="3994099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19" y="2307336"/>
            <a:ext cx="3939235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头部视觉难判断中后段卡滞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55587" y="2289048"/>
            <a:ext cx="4198924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3019" y="2307336"/>
            <a:ext cx="4144060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形状传感、关节估计、接触反馈融合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2913888"/>
            <a:ext cx="2048255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2932176"/>
            <a:ext cx="1993391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接触模型可靠性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61487" y="2913888"/>
            <a:ext cx="3994099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19" y="2932176"/>
            <a:ext cx="3939235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摩擦和接触点随环境变化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55587" y="2913888"/>
            <a:ext cx="4198924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3019" y="2932176"/>
            <a:ext cx="4144060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在线辨识、保守安全距离约束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3538728"/>
            <a:ext cx="2048255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3557016"/>
            <a:ext cx="1993391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软体形状感知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61487" y="3538728"/>
            <a:ext cx="3994099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19" y="3557016"/>
            <a:ext cx="3939235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驱动输入与真实曲率存在偏差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55587" y="3538728"/>
            <a:ext cx="4198924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3019" y="3557016"/>
            <a:ext cx="4144060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嵌入式形状传感、实时标定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163567"/>
            <a:ext cx="2048255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" y="4181855"/>
            <a:ext cx="1993391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长期实验不足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61487" y="4163567"/>
            <a:ext cx="3994099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19" y="4181855"/>
            <a:ext cx="3939235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多数研究停留在短时演示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55587" y="4163567"/>
            <a:ext cx="4198924" cy="624839"/>
          </a:xfrm>
          <a:prstGeom prst="rect">
            <a:avLst/>
          </a:prstGeom>
          <a:solidFill>
            <a:srgbClr val="F2F6FB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3019" y="4181855"/>
            <a:ext cx="4144060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重复试验、耐久和失效统计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4788408"/>
            <a:ext cx="2048255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" y="4806695"/>
            <a:ext cx="1993391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C8102E"/>
                </a:solidFill>
                <a:latin typeface="Microsoft YaHei"/>
              </a:rPr>
              <a:t>指标不统一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61487" y="4788408"/>
            <a:ext cx="3994099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88919" y="4806695"/>
            <a:ext cx="3939235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不同平台难以横向比较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55587" y="4788408"/>
            <a:ext cx="4198924" cy="624839"/>
          </a:xfrm>
          <a:prstGeom prst="rect">
            <a:avLst/>
          </a:prstGeom>
          <a:solidFill>
            <a:srgbClr val="FFFFFF"/>
          </a:solidFill>
          <a:ln w="3175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83019" y="4806695"/>
            <a:ext cx="4144060" cy="588263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0">
                <a:solidFill>
                  <a:srgbClr val="1E2A36"/>
                </a:solidFill>
                <a:latin typeface="Microsoft YaHei"/>
              </a:rPr>
              <a:t>按场景报告通过、稳定、能耗和作业质量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376672"/>
            <a:ext cx="10561320" cy="603504"/>
          </a:xfrm>
          <a:prstGeom prst="rect">
            <a:avLst/>
          </a:prstGeom>
          <a:solidFill>
            <a:srgbClr val="F1FAF6"/>
          </a:solidFill>
          <a:ln w="10160">
            <a:solidFill>
              <a:srgbClr val="24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Autofit/>
          </a:bodyPr>
          <a:lstStyle/>
          <a:p>
            <a:pPr algn="l"/>
            <a:r>
              <a:rPr sz="819" b="1">
                <a:solidFill>
                  <a:srgbClr val="248F73"/>
                </a:solidFill>
                <a:latin typeface="微软雅黑"/>
              </a:rPr>
              <a:t>读表要点</a:t>
            </a:r>
          </a:p>
          <a:p>
            <a:pPr algn="l">
              <a:spcBef>
                <a:spcPts val="100"/>
              </a:spcBef>
            </a:pPr>
            <a:r>
              <a:rPr sz="760" b="0">
                <a:solidFill>
                  <a:srgbClr val="202A33"/>
                </a:solidFill>
                <a:latin typeface="微软雅黑"/>
              </a:rPr>
              <a:t>这些问题都应转化为可测指标，例如全身状态误差、接触模型误差、连续运行时长、重复成功率和跨平台评价基准。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附件1：学校横版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91440"/>
            <a:ext cx="1764792" cy="413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8048" y="201168"/>
            <a:ext cx="196596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60" b="1">
                <a:solidFill>
                  <a:srgbClr val="073763"/>
                </a:solidFill>
                <a:latin typeface="Microsoft YaHei"/>
              </a:rPr>
              <a:t>仿生机器人学导论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557784"/>
            <a:ext cx="2267712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10" b="0">
                <a:solidFill>
                  <a:srgbClr val="5E7186"/>
                </a:solidFill>
                <a:latin typeface="Microsoft YaHei"/>
              </a:rPr>
              <a:t>六 典型应用与展望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274320" y="649224"/>
            <a:ext cx="182880" cy="155448"/>
          </a:xfrm>
          <a:prstGeom prst="parallelogram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8412480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73763"/>
                </a:solidFill>
                <a:latin typeface="Microsoft YaHei"/>
              </a:rPr>
              <a:t>总结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" y="987552"/>
            <a:ext cx="11430000" cy="0"/>
          </a:xfrm>
          <a:prstGeom prst="line">
            <a:avLst/>
          </a:prstGeom>
          <a:ln w="12700">
            <a:solidFill>
              <a:srgbClr val="0B4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3763"/>
          </a:solidFill>
          <a:ln>
            <a:solidFill>
              <a:srgbClr val="073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592824"/>
            <a:ext cx="97840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icrosoft YaHei"/>
              </a:rPr>
              <a:t>蛇形机器人专题综述｜仿生机理、结构驱动、建模控制与典型应用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83680"/>
            <a:ext cx="384048" cy="164592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Microsoft YaHei"/>
              </a:rPr>
              <a:t>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1137392" cy="301752"/>
          </a:xfrm>
          <a:prstGeom prst="rect">
            <a:avLst/>
          </a:prstGeom>
          <a:solidFill>
            <a:srgbClr val="0B4D91"/>
          </a:solidFill>
          <a:ln w="2540">
            <a:solidFill>
              <a:srgbClr val="0B4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129284"/>
            <a:ext cx="1065276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icrosoft YaHei"/>
              </a:rPr>
              <a:t>结构决定能否进入环境，模型决定能否描述身体，控制决定能否稳定作业。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1828800"/>
            <a:ext cx="278892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1828800"/>
            <a:ext cx="54864" cy="1060704"/>
          </a:xfrm>
          <a:prstGeom prst="rect">
            <a:avLst/>
          </a:prstGeom>
          <a:solidFill>
            <a:srgbClr val="0B4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1938528"/>
            <a:ext cx="256032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结构决定能否进入环境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231136"/>
            <a:ext cx="2560320" cy="603503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模块尺度、关节自由度、外壳和驱动能力决定基本通过性。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828800"/>
            <a:ext cx="278892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828800"/>
            <a:ext cx="54864" cy="1060704"/>
          </a:xfrm>
          <a:prstGeom prst="rect">
            <a:avLst/>
          </a:prstGeom>
          <a:solidFill>
            <a:srgbClr val="4C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938528"/>
            <a:ext cx="256032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模型决定能否描述身体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231136"/>
            <a:ext cx="2560320" cy="603503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中心线、关节链和接触力项决定身体状态是否可计算。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828800"/>
            <a:ext cx="278892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6760" y="1828800"/>
            <a:ext cx="54864" cy="10607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938528"/>
            <a:ext cx="2560320" cy="20116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980" b="1">
                <a:solidFill>
                  <a:srgbClr val="073763"/>
                </a:solidFill>
                <a:latin typeface="Microsoft YaHei"/>
              </a:rPr>
              <a:t>控制决定能否稳定作业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231136"/>
            <a:ext cx="2560320" cy="603503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819" b="0">
                <a:solidFill>
                  <a:srgbClr val="1E2A36"/>
                </a:solidFill>
                <a:latin typeface="Microsoft YaHei"/>
              </a:rPr>
              <a:t>步态、路径跟踪和安全距离约束决定机器人能否完成检测或探测。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977639"/>
            <a:ext cx="9966960" cy="9144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69" b="0">
                <a:solidFill>
                  <a:srgbClr val="1E2A36"/>
                </a:solidFill>
                <a:latin typeface="Microsoft YaHei"/>
              </a:rPr>
              <a:t>• 蛇形机器人不是单一运动机构，而是结构、模型、控制和场景约束共同决定的系统。</a:t>
            </a:r>
          </a:p>
          <a:p>
            <a:pPr>
              <a:spcAft>
                <a:spcPts val="300"/>
              </a:spcAft>
            </a:pPr>
            <a:r>
              <a:rPr sz="969" b="0">
                <a:solidFill>
                  <a:srgbClr val="1E2A36"/>
                </a:solidFill>
                <a:latin typeface="Microsoft YaHei"/>
              </a:rPr>
              <a:t>• 综述写作应避免只列方法名称，应说明每种方法解决的变量、约束和实验对象。</a:t>
            </a:r>
          </a:p>
          <a:p>
            <a:pPr>
              <a:spcAft>
                <a:spcPts val="300"/>
              </a:spcAft>
            </a:pPr>
            <a:r>
              <a:rPr sz="969" b="0">
                <a:solidFill>
                  <a:srgbClr val="1E2A36"/>
                </a:solidFill>
                <a:latin typeface="Microsoft YaHei"/>
              </a:rPr>
              <a:t>• 最终稿应保持公式符号、图题来源和参考文献格式的一致性。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1659</Words>
  <Application>Microsoft Office PowerPoint</Application>
  <PresentationFormat>宽屏</PresentationFormat>
  <Paragraphs>209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ooo fic</cp:lastModifiedBy>
  <cp:revision>82</cp:revision>
  <dcterms:created xsi:type="dcterms:W3CDTF">2023-08-09T12:44:00Z</dcterms:created>
  <dcterms:modified xsi:type="dcterms:W3CDTF">2026-01-22T10:54:04Z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